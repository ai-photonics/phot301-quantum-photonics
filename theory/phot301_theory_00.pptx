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7" r:id="rId1"/>
  </p:sldMasterIdLst>
  <p:notesMasterIdLst>
    <p:notesMasterId r:id="rId12"/>
  </p:notesMasterIdLst>
  <p:handoutMasterIdLst>
    <p:handoutMasterId r:id="rId13"/>
  </p:handoutMasterIdLst>
  <p:sldIdLst>
    <p:sldId id="377" r:id="rId2"/>
    <p:sldId id="630" r:id="rId3"/>
    <p:sldId id="631" r:id="rId4"/>
    <p:sldId id="695" r:id="rId5"/>
    <p:sldId id="683" r:id="rId6"/>
    <p:sldId id="696" r:id="rId7"/>
    <p:sldId id="697" r:id="rId8"/>
    <p:sldId id="629" r:id="rId9"/>
    <p:sldId id="633" r:id="rId10"/>
    <p:sldId id="698" r:id="rId11"/>
  </p:sldIdLst>
  <p:sldSz cx="21677313" cy="1219358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>
          <p15:clr>
            <a:srgbClr val="A4A3A4"/>
          </p15:clr>
        </p15:guide>
        <p15:guide id="2" pos="682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B9E2"/>
    <a:srgbClr val="FFEB00"/>
    <a:srgbClr val="0000FF"/>
    <a:srgbClr val="006600"/>
    <a:srgbClr val="008000"/>
    <a:srgbClr val="FF0000"/>
    <a:srgbClr val="D9D9D9"/>
    <a:srgbClr val="9A0E20"/>
    <a:srgbClr val="644444"/>
    <a:srgbClr val="7D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112" autoAdjust="0"/>
    <p:restoredTop sz="87986" autoAdjust="0"/>
  </p:normalViewPr>
  <p:slideViewPr>
    <p:cSldViewPr snapToGrid="0" snapToObjects="1">
      <p:cViewPr varScale="1">
        <p:scale>
          <a:sx n="39" d="100"/>
          <a:sy n="39" d="100"/>
        </p:scale>
        <p:origin x="1670" y="86"/>
      </p:cViewPr>
      <p:guideLst>
        <p:guide orient="horz" pos="3840"/>
        <p:guide pos="68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8" d="100"/>
          <a:sy n="88" d="100"/>
        </p:scale>
        <p:origin x="274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Barbier" userId="a7303c3779e800f1" providerId="LiveId" clId="{16E7AC4F-C40A-48E6-B5DA-64F2A884B132}"/>
    <pc:docChg chg="undo custSel addSld modSld">
      <pc:chgData name="Michael Barbier" userId="a7303c3779e800f1" providerId="LiveId" clId="{16E7AC4F-C40A-48E6-B5DA-64F2A884B132}" dt="2026-09-29T09:43:32.496" v="764" actId="5736"/>
      <pc:docMkLst>
        <pc:docMk/>
      </pc:docMkLst>
      <pc:sldChg chg="modSp mod">
        <pc:chgData name="Michael Barbier" userId="a7303c3779e800f1" providerId="LiveId" clId="{16E7AC4F-C40A-48E6-B5DA-64F2A884B132}" dt="2026-09-29T07:16:57.944" v="677" actId="20577"/>
        <pc:sldMkLst>
          <pc:docMk/>
          <pc:sldMk cId="1341335526" sldId="377"/>
        </pc:sldMkLst>
        <pc:spChg chg="mod">
          <ac:chgData name="Michael Barbier" userId="a7303c3779e800f1" providerId="LiveId" clId="{16E7AC4F-C40A-48E6-B5DA-64F2A884B132}" dt="2026-09-29T07:16:57.944" v="677" actId="20577"/>
          <ac:spMkLst>
            <pc:docMk/>
            <pc:sldMk cId="1341335526" sldId="377"/>
            <ac:spMk id="3" creationId="{00000000-0000-0000-0000-000000000000}"/>
          </ac:spMkLst>
        </pc:spChg>
      </pc:sldChg>
      <pc:sldChg chg="addSp delSp modSp mod">
        <pc:chgData name="Michael Barbier" userId="a7303c3779e800f1" providerId="LiveId" clId="{16E7AC4F-C40A-48E6-B5DA-64F2A884B132}" dt="2026-09-29T09:43:32.496" v="764" actId="5736"/>
        <pc:sldMkLst>
          <pc:docMk/>
          <pc:sldMk cId="2752976682" sldId="629"/>
        </pc:sldMkLst>
        <pc:graphicFrameChg chg="add mod modGraphic">
          <ac:chgData name="Michael Barbier" userId="a7303c3779e800f1" providerId="LiveId" clId="{16E7AC4F-C40A-48E6-B5DA-64F2A884B132}" dt="2026-09-29T09:43:32.496" v="764" actId="5736"/>
          <ac:graphicFrameMkLst>
            <pc:docMk/>
            <pc:sldMk cId="2752976682" sldId="629"/>
            <ac:graphicFrameMk id="4" creationId="{BC240FBA-F38F-F55F-2ECB-7C038D02BB1B}"/>
          </ac:graphicFrameMkLst>
        </pc:graphicFrameChg>
      </pc:sldChg>
      <pc:sldChg chg="addSp modSp mod">
        <pc:chgData name="Michael Barbier" userId="a7303c3779e800f1" providerId="LiveId" clId="{16E7AC4F-C40A-48E6-B5DA-64F2A884B132}" dt="2026-09-29T07:31:07.041" v="759" actId="20577"/>
        <pc:sldMkLst>
          <pc:docMk/>
          <pc:sldMk cId="3018616608" sldId="630"/>
        </pc:sldMkLst>
        <pc:spChg chg="add mod">
          <ac:chgData name="Michael Barbier" userId="a7303c3779e800f1" providerId="LiveId" clId="{16E7AC4F-C40A-48E6-B5DA-64F2A884B132}" dt="2026-09-29T07:30:01.407" v="734" actId="20577"/>
          <ac:spMkLst>
            <pc:docMk/>
            <pc:sldMk cId="3018616608" sldId="630"/>
            <ac:spMk id="4" creationId="{C310F77F-DE17-CB08-62B1-1291A0308378}"/>
          </ac:spMkLst>
        </pc:spChg>
        <pc:spChg chg="mod">
          <ac:chgData name="Michael Barbier" userId="a7303c3779e800f1" providerId="LiveId" clId="{16E7AC4F-C40A-48E6-B5DA-64F2A884B132}" dt="2026-09-29T07:30:12.275" v="738" actId="6549"/>
          <ac:spMkLst>
            <pc:docMk/>
            <pc:sldMk cId="3018616608" sldId="630"/>
            <ac:spMk id="5" creationId="{7E3BE33B-AE8E-40DE-998A-AD321EF4ABF0}"/>
          </ac:spMkLst>
        </pc:spChg>
        <pc:spChg chg="mod">
          <ac:chgData name="Michael Barbier" userId="a7303c3779e800f1" providerId="LiveId" clId="{16E7AC4F-C40A-48E6-B5DA-64F2A884B132}" dt="2026-09-29T07:31:07.041" v="759" actId="20577"/>
          <ac:spMkLst>
            <pc:docMk/>
            <pc:sldMk cId="3018616608" sldId="630"/>
            <ac:spMk id="12" creationId="{063C32C4-2D6F-0135-8BF2-2D1A834D34F9}"/>
          </ac:spMkLst>
        </pc:spChg>
      </pc:sldChg>
      <pc:sldChg chg="modSp mod">
        <pc:chgData name="Michael Barbier" userId="a7303c3779e800f1" providerId="LiveId" clId="{16E7AC4F-C40A-48E6-B5DA-64F2A884B132}" dt="2026-09-29T07:22:44.748" v="727" actId="20577"/>
        <pc:sldMkLst>
          <pc:docMk/>
          <pc:sldMk cId="2085151098" sldId="633"/>
        </pc:sldMkLst>
        <pc:spChg chg="mod">
          <ac:chgData name="Michael Barbier" userId="a7303c3779e800f1" providerId="LiveId" clId="{16E7AC4F-C40A-48E6-B5DA-64F2A884B132}" dt="2026-09-29T07:22:44.748" v="727" actId="20577"/>
          <ac:spMkLst>
            <pc:docMk/>
            <pc:sldMk cId="2085151098" sldId="633"/>
            <ac:spMk id="5" creationId="{B1FA7C09-1139-AFA4-442F-3CF263CA4E2F}"/>
          </ac:spMkLst>
        </pc:spChg>
      </pc:sldChg>
      <pc:sldChg chg="modSp add mod">
        <pc:chgData name="Michael Barbier" userId="a7303c3779e800f1" providerId="LiveId" clId="{16E7AC4F-C40A-48E6-B5DA-64F2A884B132}" dt="2026-09-29T07:37:16.715" v="763" actId="20577"/>
        <pc:sldMkLst>
          <pc:docMk/>
          <pc:sldMk cId="2894283772" sldId="698"/>
        </pc:sldMkLst>
        <pc:spChg chg="mod">
          <ac:chgData name="Michael Barbier" userId="a7303c3779e800f1" providerId="LiveId" clId="{16E7AC4F-C40A-48E6-B5DA-64F2A884B132}" dt="2026-09-29T07:37:16.715" v="763" actId="20577"/>
          <ac:spMkLst>
            <pc:docMk/>
            <pc:sldMk cId="2894283772" sldId="698"/>
            <ac:spMk id="5" creationId="{1AD17643-0CD6-9888-158D-16706D17059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E617C-5A2A-8843-82DB-6D82B404D82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13058C-37E4-1E4D-9783-788A13001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3161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716472-AA8E-6041-BA1D-F63E54F218F4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77221-1729-FD45-9238-64215CA51AF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5270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77221-1729-FD45-9238-64215CA51AF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9254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9663" y="3631262"/>
            <a:ext cx="16257985" cy="4245175"/>
          </a:xfrm>
        </p:spPr>
        <p:txBody>
          <a:bodyPr anchor="b">
            <a:normAutofit/>
          </a:bodyPr>
          <a:lstStyle>
            <a:lvl1pPr algn="ctr">
              <a:defRPr sz="88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nl-BE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9664" y="7918194"/>
            <a:ext cx="16257985" cy="2943960"/>
          </a:xfrm>
        </p:spPr>
        <p:txBody>
          <a:bodyPr/>
          <a:lstStyle>
            <a:lvl1pPr marL="0" indent="0" algn="ctr">
              <a:buNone/>
              <a:defRPr sz="4267">
                <a:solidFill>
                  <a:schemeClr val="tx1"/>
                </a:solidFill>
              </a:defRPr>
            </a:lvl1pPr>
            <a:lvl2pPr marL="812902" indent="0" algn="ctr">
              <a:buNone/>
              <a:defRPr sz="3556"/>
            </a:lvl2pPr>
            <a:lvl3pPr marL="1625803" indent="0" algn="ctr">
              <a:buNone/>
              <a:defRPr sz="3200"/>
            </a:lvl3pPr>
            <a:lvl4pPr marL="2438705" indent="0" algn="ctr">
              <a:buNone/>
              <a:defRPr sz="2845"/>
            </a:lvl4pPr>
            <a:lvl5pPr marL="3251606" indent="0" algn="ctr">
              <a:buNone/>
              <a:defRPr sz="2845"/>
            </a:lvl5pPr>
            <a:lvl6pPr marL="4064508" indent="0" algn="ctr">
              <a:buNone/>
              <a:defRPr sz="2845"/>
            </a:lvl6pPr>
            <a:lvl7pPr marL="4877410" indent="0" algn="ctr">
              <a:buNone/>
              <a:defRPr sz="2845"/>
            </a:lvl7pPr>
            <a:lvl8pPr marL="5690311" indent="0" algn="ctr">
              <a:buNone/>
              <a:defRPr sz="2845"/>
            </a:lvl8pPr>
            <a:lvl9pPr marL="6503213" indent="0" algn="ctr">
              <a:buNone/>
              <a:defRPr sz="2845"/>
            </a:lvl9pPr>
          </a:lstStyle>
          <a:p>
            <a:r>
              <a:rPr lang="nl-BE" dirty="0"/>
              <a:t>Click to edit Master subtitle style</a:t>
            </a:r>
            <a:endParaRPr lang="en-US" dirty="0"/>
          </a:p>
        </p:txBody>
      </p:sp>
      <p:pic>
        <p:nvPicPr>
          <p:cNvPr id="7" name="Picture 2" descr="İYTE Logoları – Basın ve Halkla İlişkiler Koordinatörlüğü">
            <a:extLst>
              <a:ext uri="{FF2B5EF4-FFF2-40B4-BE49-F238E27FC236}">
                <a16:creationId xmlns:a16="http://schemas.microsoft.com/office/drawing/2014/main" id="{CB78D0D1-7794-1449-CA77-6532F27E19F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5321" y="-10009"/>
            <a:ext cx="1537433" cy="1537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556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hite 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0316" y="456910"/>
            <a:ext cx="18649564" cy="1013974"/>
          </a:xfrm>
        </p:spPr>
        <p:txBody>
          <a:bodyPr/>
          <a:lstStyle>
            <a:lvl1pPr algn="ctr">
              <a:defRPr sz="6000">
                <a:solidFill>
                  <a:srgbClr val="9A0E20"/>
                </a:solidFill>
              </a:defRPr>
            </a:lvl1pPr>
          </a:lstStyle>
          <a:p>
            <a:r>
              <a:rPr lang="nl-BE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5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48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40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4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4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nl-BE" dirty="0"/>
              <a:t>Click to edit Master text styles</a:t>
            </a:r>
          </a:p>
          <a:p>
            <a:pPr lvl="1"/>
            <a:r>
              <a:rPr lang="nl-BE" dirty="0"/>
              <a:t>Second level</a:t>
            </a:r>
          </a:p>
          <a:p>
            <a:pPr lvl="2"/>
            <a:r>
              <a:rPr lang="nl-BE" dirty="0"/>
              <a:t>Third level</a:t>
            </a:r>
          </a:p>
          <a:p>
            <a:pPr lvl="3"/>
            <a:r>
              <a:rPr lang="nl-BE" dirty="0"/>
              <a:t>Fourth level</a:t>
            </a:r>
          </a:p>
          <a:p>
            <a:pPr lvl="4"/>
            <a:r>
              <a:rPr lang="nl-BE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483492" y="11673731"/>
            <a:ext cx="4877395" cy="450490"/>
          </a:xfrm>
        </p:spPr>
        <p:txBody>
          <a:bodyPr/>
          <a:lstStyle>
            <a:lvl1pPr>
              <a:defRPr sz="2400">
                <a:solidFill>
                  <a:srgbClr val="C00000"/>
                </a:solidFill>
              </a:defRPr>
            </a:lvl1pPr>
          </a:lstStyle>
          <a:p>
            <a:fld id="{03B9B391-82AD-1B4C-9073-F5FC7B3F8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4198DBD-1B76-8BEC-DBEC-B665CFE9C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842" y="11673731"/>
            <a:ext cx="5523764" cy="45049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C00000"/>
                </a:solidFill>
              </a:defRPr>
            </a:lvl1pPr>
          </a:lstStyle>
          <a:p>
            <a:fld id="{B9736F3D-B59F-44FD-93C3-3529C0578F26}" type="datetime1">
              <a:rPr lang="tr-TR" smtClean="0"/>
              <a:t>29.09.2026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BC4B047-BBD8-D5F0-1403-83162587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84606" y="11673731"/>
            <a:ext cx="10598886" cy="45049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Lecture 00: Introduction to the course</a:t>
            </a:r>
          </a:p>
        </p:txBody>
      </p:sp>
    </p:spTree>
    <p:extLst>
      <p:ext uri="{BB962C8B-B14F-4D97-AF65-F5344CB8AC3E}">
        <p14:creationId xmlns:p14="http://schemas.microsoft.com/office/powerpoint/2010/main" val="3467871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3D37A-F057-0BE8-79FB-6679454776D5}"/>
              </a:ext>
            </a:extLst>
          </p:cNvPr>
          <p:cNvSpPr/>
          <p:nvPr userDrawn="1"/>
        </p:nvSpPr>
        <p:spPr>
          <a:xfrm>
            <a:off x="1490316" y="1985963"/>
            <a:ext cx="18649564" cy="90439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0316" y="456910"/>
            <a:ext cx="18649564" cy="1013974"/>
          </a:xfrm>
        </p:spPr>
        <p:txBody>
          <a:bodyPr/>
          <a:lstStyle>
            <a:lvl1pPr algn="ctr">
              <a:defRPr sz="6000">
                <a:solidFill>
                  <a:srgbClr val="9A0E20"/>
                </a:solidFill>
              </a:defRPr>
            </a:lvl1pPr>
          </a:lstStyle>
          <a:p>
            <a:r>
              <a:rPr lang="nl-BE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7488" y="2386013"/>
            <a:ext cx="16344900" cy="8301037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48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40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4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4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nl-BE" dirty="0"/>
              <a:t>Click to edit Master text styles</a:t>
            </a:r>
          </a:p>
          <a:p>
            <a:pPr lvl="1"/>
            <a:r>
              <a:rPr lang="nl-BE" dirty="0"/>
              <a:t>Second level</a:t>
            </a:r>
          </a:p>
          <a:p>
            <a:pPr lvl="2"/>
            <a:r>
              <a:rPr lang="nl-BE" dirty="0"/>
              <a:t>Third level</a:t>
            </a:r>
          </a:p>
          <a:p>
            <a:pPr lvl="3"/>
            <a:r>
              <a:rPr lang="nl-BE" dirty="0"/>
              <a:t>Fourth level</a:t>
            </a:r>
          </a:p>
          <a:p>
            <a:pPr lvl="4"/>
            <a:r>
              <a:rPr lang="nl-BE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483492" y="11673731"/>
            <a:ext cx="4877395" cy="450490"/>
          </a:xfrm>
        </p:spPr>
        <p:txBody>
          <a:bodyPr/>
          <a:lstStyle>
            <a:lvl1pPr>
              <a:defRPr sz="2400">
                <a:solidFill>
                  <a:srgbClr val="C00000"/>
                </a:solidFill>
              </a:defRPr>
            </a:lvl1pPr>
          </a:lstStyle>
          <a:p>
            <a:fld id="{03B9B391-82AD-1B4C-9073-F5FC7B3F8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4198DBD-1B76-8BEC-DBEC-B665CFE9C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842" y="11673731"/>
            <a:ext cx="5523764" cy="45049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C00000"/>
                </a:solidFill>
              </a:defRPr>
            </a:lvl1pPr>
          </a:lstStyle>
          <a:p>
            <a:fld id="{962B61B8-D63F-426E-8BA0-9E01434B52EE}" type="datetime1">
              <a:rPr lang="tr-TR" smtClean="0"/>
              <a:t>29.09.2026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BC4B047-BBD8-D5F0-1403-83162587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84606" y="11673731"/>
            <a:ext cx="10598886" cy="45049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Lecture 00: Introduction to the course</a:t>
            </a:r>
          </a:p>
        </p:txBody>
      </p:sp>
    </p:spTree>
    <p:extLst>
      <p:ext uri="{BB962C8B-B14F-4D97-AF65-F5344CB8AC3E}">
        <p14:creationId xmlns:p14="http://schemas.microsoft.com/office/powerpoint/2010/main" val="1850113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8245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90316" y="20548"/>
            <a:ext cx="18696682" cy="10139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nl-B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0316" y="1930399"/>
            <a:ext cx="18696682" cy="9250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Click to edit Master text styles</a:t>
            </a:r>
          </a:p>
          <a:p>
            <a:pPr lvl="1"/>
            <a:r>
              <a:rPr lang="nl-BE" dirty="0"/>
              <a:t>Second level</a:t>
            </a:r>
          </a:p>
          <a:p>
            <a:pPr lvl="2"/>
            <a:r>
              <a:rPr lang="nl-BE" dirty="0"/>
              <a:t>Third level</a:t>
            </a:r>
          </a:p>
          <a:p>
            <a:pPr lvl="3"/>
            <a:r>
              <a:rPr lang="nl-BE" dirty="0"/>
              <a:t>Fourth level</a:t>
            </a:r>
          </a:p>
          <a:p>
            <a:pPr lvl="4"/>
            <a:r>
              <a:rPr lang="nl-BE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09603" y="11301650"/>
            <a:ext cx="4877395" cy="6491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9B391-82AD-1B4C-9073-F5FC7B3F8B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54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8" r:id="rId2"/>
    <p:sldLayoutId id="2147483687" r:id="rId3"/>
    <p:sldLayoutId id="2147483681" r:id="rId4"/>
  </p:sldLayoutIdLst>
  <p:hf hdr="0"/>
  <p:txStyles>
    <p:titleStyle>
      <a:lvl1pPr algn="l" defTabSz="1625803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bg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406451" indent="-406451" algn="l" defTabSz="1625803" rtl="0" eaLnBrk="1" latinLnBrk="0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sz="4978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1pPr>
      <a:lvl2pPr marL="1219352" indent="-406451" algn="l" defTabSz="162580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7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2pPr>
      <a:lvl3pPr marL="2032254" indent="-406451" algn="l" defTabSz="162580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6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3pPr>
      <a:lvl4pPr marL="2845156" indent="-406451" algn="l" defTabSz="162580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4pPr>
      <a:lvl5pPr marL="3658057" indent="-406451" algn="l" defTabSz="162580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5pPr>
      <a:lvl6pPr marL="4470959" indent="-406451" algn="l" defTabSz="162580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3860" indent="-406451" algn="l" defTabSz="162580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6762" indent="-406451" algn="l" defTabSz="162580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9664" indent="-406451" algn="l" defTabSz="162580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902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803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705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606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508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7410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90311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3213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-andrews.ac.uk/physics/quvis/index.html" TargetMode="External"/><Relationship Id="rId2" Type="http://schemas.openxmlformats.org/officeDocument/2006/relationships/hyperlink" Target="https://dabm.stanford.edu/teaching/quantum-mechanic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.docs.live.net/a7303c3779e800f1/Desktop/2024_2025_courses/course_PHOT301_quantum_photonics/www.falstad.com/" TargetMode="External"/><Relationship Id="rId5" Type="http://schemas.openxmlformats.org/officeDocument/2006/relationships/hyperlink" Target="https://www.falstad.com/qm1d/" TargetMode="External"/><Relationship Id="rId4" Type="http://schemas.openxmlformats.org/officeDocument/2006/relationships/hyperlink" Target="https://qutip.org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1467" y="6400800"/>
            <a:ext cx="18717683" cy="3058489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PHOT 301: Quantum Photonics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LECTURE 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24064" y="9821239"/>
            <a:ext cx="16206986" cy="1132512"/>
          </a:xfrm>
        </p:spPr>
        <p:txBody>
          <a:bodyPr>
            <a:noAutofit/>
          </a:bodyPr>
          <a:lstStyle/>
          <a:p>
            <a:pPr algn="r"/>
            <a:r>
              <a:rPr lang="en-US" sz="5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Micha</a:t>
            </a:r>
            <a:r>
              <a:rPr lang="fr-BE" sz="54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ël</a:t>
            </a:r>
            <a:r>
              <a:rPr lang="fr-BE" sz="5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B</a:t>
            </a:r>
            <a:r>
              <a:rPr lang="en-US" sz="54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arbier</a:t>
            </a:r>
            <a:r>
              <a:rPr lang="en-US" sz="5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Fall semester (2026-2027)</a:t>
            </a:r>
          </a:p>
          <a:p>
            <a:pPr algn="r"/>
            <a:endParaRPr lang="en-US" sz="28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335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AC26-C1E1-F2E2-21EB-FA0B56386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3BE33B-AE8E-40DE-998A-AD321EF4ABF0}"/>
              </a:ext>
            </a:extLst>
          </p:cNvPr>
          <p:cNvSpPr txBox="1"/>
          <p:nvPr/>
        </p:nvSpPr>
        <p:spPr>
          <a:xfrm>
            <a:off x="2425547" y="2422204"/>
            <a:ext cx="826461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tx1"/>
                </a:solidFill>
                <a:effectLst/>
              </a:rPr>
              <a:t>Instructor</a:t>
            </a:r>
          </a:p>
          <a:p>
            <a:endParaRPr lang="en-US" sz="4000" dirty="0">
              <a:solidFill>
                <a:schemeClr val="tx1"/>
              </a:solidFill>
            </a:endParaRPr>
          </a:p>
          <a:p>
            <a:r>
              <a:rPr lang="en-US" sz="4000" dirty="0">
                <a:solidFill>
                  <a:schemeClr val="tx1"/>
                </a:solidFill>
              </a:rPr>
              <a:t>Dr.</a:t>
            </a:r>
            <a:r>
              <a:rPr lang="en-US" sz="4000" b="0" dirty="0">
                <a:solidFill>
                  <a:schemeClr val="tx1"/>
                </a:solidFill>
                <a:effectLst/>
              </a:rPr>
              <a:t> Michaël Barbier  </a:t>
            </a:r>
          </a:p>
          <a:p>
            <a:r>
              <a:rPr lang="en-US" sz="4000" b="0" dirty="0">
                <a:solidFill>
                  <a:schemeClr val="tx1"/>
                </a:solidFill>
                <a:effectLst/>
              </a:rPr>
              <a:t>e-mail: 	michaelbarbier@iyte.edu.tr  </a:t>
            </a:r>
          </a:p>
          <a:p>
            <a:r>
              <a:rPr lang="en-US" sz="4000" b="0" dirty="0">
                <a:solidFill>
                  <a:schemeClr val="tx1"/>
                </a:solidFill>
                <a:effectLst/>
              </a:rPr>
              <a:t>Office: 	Z-5/B</a:t>
            </a:r>
          </a:p>
          <a:p>
            <a:r>
              <a:rPr lang="en-US" sz="4000" b="0" dirty="0">
                <a:solidFill>
                  <a:schemeClr val="tx1"/>
                </a:solidFill>
                <a:effectLst/>
              </a:rPr>
              <a:t>Hours:	Friday 9:00-17:00 (via appointment)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3C32C4-2D6F-0135-8BF2-2D1A834D34F9}"/>
              </a:ext>
            </a:extLst>
          </p:cNvPr>
          <p:cNvSpPr txBox="1"/>
          <p:nvPr/>
        </p:nvSpPr>
        <p:spPr>
          <a:xfrm>
            <a:off x="2425546" y="8715094"/>
            <a:ext cx="1754196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tx1"/>
                </a:solidFill>
                <a:effectLst/>
              </a:rPr>
              <a:t>Course Schedule</a:t>
            </a:r>
          </a:p>
          <a:p>
            <a:r>
              <a:rPr lang="en-US" sz="4000" b="0" dirty="0">
                <a:solidFill>
                  <a:schemeClr val="tx1"/>
                </a:solidFill>
                <a:effectLst/>
              </a:rPr>
              <a:t>Thursday	</a:t>
            </a:r>
            <a:r>
              <a:rPr lang="en-US" sz="4000" dirty="0"/>
              <a:t> 13:30 – 15:15 </a:t>
            </a:r>
            <a:r>
              <a:rPr lang="en-US" sz="4000" b="0" dirty="0">
                <a:solidFill>
                  <a:schemeClr val="tx1"/>
                </a:solidFill>
                <a:effectLst/>
              </a:rPr>
              <a:t>	Building F, lecture room D3</a:t>
            </a:r>
          </a:p>
          <a:p>
            <a:r>
              <a:rPr lang="en-US" sz="4000" b="0" dirty="0">
                <a:solidFill>
                  <a:schemeClr val="tx1"/>
                </a:solidFill>
                <a:effectLst/>
              </a:rPr>
              <a:t>Thursday	</a:t>
            </a:r>
            <a:r>
              <a:rPr lang="en-US" sz="4000" dirty="0"/>
              <a:t> 15:30 – 17:15 </a:t>
            </a:r>
            <a:r>
              <a:rPr lang="en-US" sz="4000" b="0" dirty="0">
                <a:solidFill>
                  <a:schemeClr val="tx1"/>
                </a:solidFill>
                <a:effectLst/>
              </a:rPr>
              <a:t>	Building F, lecture room D3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B23761-BD4F-5111-107A-C1EE66D38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46056-CBB5-44E9-8077-E13ECF6E18C9}" type="datetime1">
              <a:rPr lang="tr-TR" smtClean="0"/>
              <a:t>29.09.2026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867CC-5A59-7358-A143-FC3BD0053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9B391-82AD-1B4C-9073-F5FC7B3F8BE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10F77F-DE17-CB08-62B1-1291A0308378}"/>
              </a:ext>
            </a:extLst>
          </p:cNvPr>
          <p:cNvSpPr txBox="1"/>
          <p:nvPr/>
        </p:nvSpPr>
        <p:spPr>
          <a:xfrm>
            <a:off x="11503420" y="2422204"/>
            <a:ext cx="879626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tx1"/>
                </a:solidFill>
                <a:effectLst/>
              </a:rPr>
              <a:t>Teaching Assistant</a:t>
            </a:r>
            <a:r>
              <a:rPr lang="en-US" sz="4000" b="1" dirty="0"/>
              <a:t>s</a:t>
            </a:r>
            <a:endParaRPr lang="en-US" sz="4000" b="1" dirty="0">
              <a:solidFill>
                <a:schemeClr val="tx1"/>
              </a:solidFill>
              <a:effectLst/>
            </a:endParaRPr>
          </a:p>
          <a:p>
            <a:endParaRPr lang="en-US" sz="4000" b="0" dirty="0">
              <a:solidFill>
                <a:schemeClr val="tx1"/>
              </a:solidFill>
              <a:effectLst/>
            </a:endParaRPr>
          </a:p>
          <a:p>
            <a:r>
              <a:rPr lang="tr-TR" sz="4000" dirty="0"/>
              <a:t>Yağız Oyun</a:t>
            </a:r>
            <a:r>
              <a:rPr lang="en-US" sz="4000" b="0" dirty="0">
                <a:solidFill>
                  <a:schemeClr val="tx1"/>
                </a:solidFill>
                <a:effectLst/>
              </a:rPr>
              <a:t>  </a:t>
            </a:r>
          </a:p>
          <a:p>
            <a:r>
              <a:rPr lang="en-US" sz="4000" b="0" dirty="0">
                <a:solidFill>
                  <a:schemeClr val="tx1"/>
                </a:solidFill>
                <a:effectLst/>
              </a:rPr>
              <a:t>e-mail: 	</a:t>
            </a:r>
            <a:r>
              <a:rPr lang="tr-TR" sz="4000" b="0" dirty="0">
                <a:solidFill>
                  <a:schemeClr val="tx1"/>
                </a:solidFill>
                <a:effectLst/>
              </a:rPr>
              <a:t>yagizoyun</a:t>
            </a:r>
            <a:r>
              <a:rPr lang="en-US" sz="4000" b="0" dirty="0">
                <a:solidFill>
                  <a:schemeClr val="tx1"/>
                </a:solidFill>
                <a:effectLst/>
              </a:rPr>
              <a:t>@iyte.edu.tr  </a:t>
            </a:r>
          </a:p>
          <a:p>
            <a:r>
              <a:rPr lang="en-US" sz="4000" b="0" dirty="0">
                <a:solidFill>
                  <a:schemeClr val="tx1"/>
                </a:solidFill>
                <a:effectLst/>
              </a:rPr>
              <a:t>Office: 	Z-9/B</a:t>
            </a:r>
          </a:p>
          <a:p>
            <a:r>
              <a:rPr lang="en-US" sz="4000" b="0" dirty="0">
                <a:solidFill>
                  <a:schemeClr val="tx1"/>
                </a:solidFill>
                <a:effectLst/>
              </a:rPr>
              <a:t>hours: 	TBA</a:t>
            </a:r>
          </a:p>
          <a:p>
            <a:endParaRPr lang="en-US" sz="4000" b="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18616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AC26-C1E1-F2E2-21EB-FA0B56386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 of the Course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1CA16C8-ABD0-A140-5DE9-05C01552B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Wave function &amp; </a:t>
            </a:r>
            <a:r>
              <a:rPr lang="tr-TR" dirty="0"/>
              <a:t>Schrödinger</a:t>
            </a:r>
            <a:r>
              <a:rPr lang="en-US" dirty="0"/>
              <a:t>’</a:t>
            </a:r>
            <a:r>
              <a:rPr lang="tr-TR" dirty="0"/>
              <a:t>s equation</a:t>
            </a:r>
            <a:endParaRPr lang="en-US" dirty="0"/>
          </a:p>
          <a:p>
            <a:r>
              <a:rPr lang="en-US" sz="5400" dirty="0"/>
              <a:t>(Mathematical) Dirac notation</a:t>
            </a:r>
          </a:p>
          <a:p>
            <a:endParaRPr lang="en-US" sz="5400" dirty="0"/>
          </a:p>
          <a:p>
            <a:r>
              <a:rPr lang="en-US" sz="5400" dirty="0"/>
              <a:t>Bound states and scattering</a:t>
            </a:r>
          </a:p>
          <a:p>
            <a:endParaRPr lang="en-US" sz="5400" dirty="0"/>
          </a:p>
          <a:p>
            <a:r>
              <a:rPr lang="en-US" dirty="0"/>
              <a:t>Hydrogen atom, Multi-electron atoms</a:t>
            </a:r>
          </a:p>
          <a:p>
            <a:endParaRPr lang="en-US" dirty="0"/>
          </a:p>
          <a:p>
            <a:r>
              <a:rPr lang="en-US" dirty="0"/>
              <a:t>Molecules and materials</a:t>
            </a:r>
          </a:p>
          <a:p>
            <a:endParaRPr lang="en-US" sz="5400" dirty="0"/>
          </a:p>
          <a:p>
            <a:r>
              <a:rPr lang="en-US" sz="5400" dirty="0"/>
              <a:t>Electromagnetic-field, absorption/emission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318595-3266-98A6-1A98-8CA7FA5A5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1D457-7656-4A3C-86CD-CD668D34140C}" type="datetime1">
              <a:rPr lang="tr-TR" smtClean="0"/>
              <a:t>29.09.2026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AD218-364C-703A-F82B-A95352568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9B391-82AD-1B4C-9073-F5FC7B3F8BE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4CD7E0D0-9FF1-73DE-41BF-D6FDA2385E09}"/>
              </a:ext>
            </a:extLst>
          </p:cNvPr>
          <p:cNvSpPr/>
          <p:nvPr/>
        </p:nvSpPr>
        <p:spPr>
          <a:xfrm>
            <a:off x="15936751" y="2439294"/>
            <a:ext cx="1093482" cy="7547388"/>
          </a:xfrm>
          <a:prstGeom prst="downArrow">
            <a:avLst>
              <a:gd name="adj1" fmla="val 30062"/>
              <a:gd name="adj2" fmla="val 101838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480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269C1-8171-6308-19BA-ED657DDEE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7520D-5D0D-8E87-C77E-654A81FEE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89361-0FD1-E750-5877-11227B39A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399" y="2047042"/>
            <a:ext cx="18324513" cy="89001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chemeClr val="tx1"/>
                </a:solidFill>
                <a:effectLst/>
              </a:rPr>
              <a:t>Course book</a:t>
            </a:r>
          </a:p>
          <a:p>
            <a:pPr marL="812901" lvl="1" indent="0">
              <a:buNone/>
            </a:pPr>
            <a:endParaRPr lang="en-US" sz="5400" dirty="0">
              <a:solidFill>
                <a:schemeClr val="tx1"/>
              </a:solidFill>
              <a:effectLst/>
            </a:endParaRPr>
          </a:p>
          <a:p>
            <a:pPr marL="812901" lvl="1" indent="0">
              <a:buNone/>
            </a:pPr>
            <a:r>
              <a:rPr lang="en-US" sz="5400" b="1" dirty="0">
                <a:solidFill>
                  <a:srgbClr val="0070C0"/>
                </a:solidFill>
                <a:effectLst/>
              </a:rPr>
              <a:t>D.J. Griffiths, Introduction to Quantum </a:t>
            </a:r>
          </a:p>
          <a:p>
            <a:pPr marL="812901" lvl="1" indent="0">
              <a:buNone/>
            </a:pPr>
            <a:r>
              <a:rPr lang="en-US" sz="5400" b="1" dirty="0">
                <a:solidFill>
                  <a:srgbClr val="0070C0"/>
                </a:solidFill>
                <a:effectLst/>
              </a:rPr>
              <a:t>Mechanics, Pearson, 3</a:t>
            </a:r>
            <a:r>
              <a:rPr lang="en-US" sz="5400" b="1" baseline="30000" dirty="0">
                <a:solidFill>
                  <a:srgbClr val="0070C0"/>
                </a:solidFill>
                <a:effectLst/>
              </a:rPr>
              <a:t>rd</a:t>
            </a:r>
            <a:r>
              <a:rPr lang="en-US" sz="5400" b="1" dirty="0">
                <a:solidFill>
                  <a:srgbClr val="0070C0"/>
                </a:solidFill>
                <a:effectLst/>
              </a:rPr>
              <a:t> edition</a:t>
            </a:r>
          </a:p>
          <a:p>
            <a:pPr marL="812901" lvl="1" indent="0">
              <a:buNone/>
            </a:pPr>
            <a:endParaRPr lang="en-US" sz="5400" dirty="0"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lang="en-US" sz="5400" b="1" dirty="0">
                <a:solidFill>
                  <a:schemeClr val="tx1"/>
                </a:solidFill>
              </a:rPr>
              <a:t>Supplementary material</a:t>
            </a:r>
          </a:p>
          <a:p>
            <a:pPr marL="812901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812901" lvl="1" indent="0">
              <a:buNone/>
            </a:pPr>
            <a:r>
              <a:rPr lang="en-US" dirty="0">
                <a:solidFill>
                  <a:schemeClr val="tx1"/>
                </a:solidFill>
              </a:rPr>
              <a:t>D.A.B. Miller, Quantum Mechanics for </a:t>
            </a:r>
          </a:p>
          <a:p>
            <a:pPr marL="812901" lvl="1" indent="0">
              <a:buNone/>
            </a:pPr>
            <a:r>
              <a:rPr lang="en-US" dirty="0">
                <a:solidFill>
                  <a:schemeClr val="tx1"/>
                </a:solidFill>
              </a:rPr>
              <a:t>Scientists and Engineers, Cambridge</a:t>
            </a:r>
          </a:p>
          <a:p>
            <a:pPr marL="812901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812901" lvl="1" indent="0">
              <a:buNone/>
            </a:pPr>
            <a:r>
              <a:rPr lang="en-US" dirty="0">
                <a:solidFill>
                  <a:schemeClr val="tx1"/>
                </a:solidFill>
              </a:rPr>
              <a:t>C.C. Gerry and P.L. Knight, Introductory </a:t>
            </a:r>
          </a:p>
          <a:p>
            <a:pPr marL="812901" lvl="1" indent="0">
              <a:buNone/>
            </a:pPr>
            <a:r>
              <a:rPr lang="en-US" dirty="0">
                <a:solidFill>
                  <a:schemeClr val="tx1"/>
                </a:solidFill>
              </a:rPr>
              <a:t>Quantum Optics, Cambridge, 2005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4475A-F1D2-892C-3563-09F3B5A9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CCA35-FFF1-4D77-B118-F852CADB2D68}" type="datetime1">
              <a:rPr lang="tr-TR" smtClean="0"/>
              <a:t>29.09.2026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5DFC6-ADD0-99C7-48EC-246F95C54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9B391-82AD-1B4C-9073-F5FC7B3F8BE6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276C7D-D673-5BEA-9B11-8263A2999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1275" y="2064295"/>
            <a:ext cx="6534525" cy="923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408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269C1-8171-6308-19BA-ED657DDEE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7520D-5D0D-8E87-C77E-654A81FEE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89361-0FD1-E750-5877-11227B39A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399" y="2047042"/>
            <a:ext cx="18324513" cy="89001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chemeClr val="tx1"/>
                </a:solidFill>
                <a:effectLst/>
              </a:rPr>
              <a:t>Course book</a:t>
            </a:r>
          </a:p>
          <a:p>
            <a:pPr marL="812901" lvl="1" indent="0">
              <a:buNone/>
            </a:pPr>
            <a:endParaRPr lang="en-US" sz="5400" dirty="0">
              <a:solidFill>
                <a:schemeClr val="tx1"/>
              </a:solidFill>
              <a:effectLst/>
            </a:endParaRPr>
          </a:p>
          <a:p>
            <a:pPr marL="812901" lvl="1" indent="0">
              <a:buNone/>
            </a:pPr>
            <a:r>
              <a:rPr lang="en-US" sz="5400" dirty="0">
                <a:solidFill>
                  <a:schemeClr val="tx1"/>
                </a:solidFill>
                <a:effectLst/>
              </a:rPr>
              <a:t>D.J. Griffiths, Introduction to Quantum </a:t>
            </a:r>
          </a:p>
          <a:p>
            <a:pPr marL="812901" lvl="1" indent="0">
              <a:buNone/>
            </a:pPr>
            <a:r>
              <a:rPr lang="en-US" sz="5400" dirty="0">
                <a:solidFill>
                  <a:schemeClr val="tx1"/>
                </a:solidFill>
                <a:effectLst/>
              </a:rPr>
              <a:t>Mechanics, Pearson</a:t>
            </a:r>
          </a:p>
          <a:p>
            <a:pPr marL="812901" lvl="1" indent="0">
              <a:buNone/>
            </a:pPr>
            <a:endParaRPr lang="en-US" sz="5400" dirty="0"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lang="en-US" sz="5400" b="1" dirty="0">
                <a:solidFill>
                  <a:schemeClr val="tx1"/>
                </a:solidFill>
              </a:rPr>
              <a:t>Supplementary material</a:t>
            </a:r>
          </a:p>
          <a:p>
            <a:pPr marL="812901" lvl="1" indent="0">
              <a:buNone/>
            </a:pPr>
            <a:endParaRPr lang="en-US" b="1" dirty="0">
              <a:solidFill>
                <a:srgbClr val="0070C0"/>
              </a:solidFill>
            </a:endParaRPr>
          </a:p>
          <a:p>
            <a:pPr marL="812901" lvl="1" indent="0">
              <a:buNone/>
            </a:pPr>
            <a:r>
              <a:rPr lang="en-US" b="1" dirty="0">
                <a:solidFill>
                  <a:srgbClr val="0070C0"/>
                </a:solidFill>
              </a:rPr>
              <a:t>D.A.B. Miller, Quantum Mechanics for </a:t>
            </a:r>
          </a:p>
          <a:p>
            <a:pPr marL="812901" lvl="1" indent="0">
              <a:buNone/>
            </a:pPr>
            <a:r>
              <a:rPr lang="en-US" b="1" dirty="0">
                <a:solidFill>
                  <a:srgbClr val="0070C0"/>
                </a:solidFill>
              </a:rPr>
              <a:t>Scientists and Engineers, Cambridge</a:t>
            </a:r>
          </a:p>
          <a:p>
            <a:pPr marL="812901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812901" lvl="1" indent="0">
              <a:buNone/>
            </a:pPr>
            <a:r>
              <a:rPr lang="en-US" dirty="0">
                <a:solidFill>
                  <a:schemeClr val="tx1"/>
                </a:solidFill>
              </a:rPr>
              <a:t>C.C. Gerry and P.L. Knight, Introductory </a:t>
            </a:r>
          </a:p>
          <a:p>
            <a:pPr marL="812901" lvl="1" indent="0">
              <a:buNone/>
            </a:pPr>
            <a:r>
              <a:rPr lang="en-US" dirty="0">
                <a:solidFill>
                  <a:schemeClr val="tx1"/>
                </a:solidFill>
              </a:rPr>
              <a:t>Quantum Optics, Cambridge, 2005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4475A-F1D2-892C-3563-09F3B5A9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CCA35-FFF1-4D77-B118-F852CADB2D68}" type="datetime1">
              <a:rPr lang="tr-TR" smtClean="0"/>
              <a:t>29.09.2026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5DFC6-ADD0-99C7-48EC-246F95C54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9B391-82AD-1B4C-9073-F5FC7B3F8BE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B2B6F6-F81A-E92A-1681-65EBCD9C8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022" y="2064294"/>
            <a:ext cx="6534525" cy="917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631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269C1-8171-6308-19BA-ED657DDEE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7520D-5D0D-8E87-C77E-654A81FEE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89361-0FD1-E750-5877-11227B39A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399" y="2047042"/>
            <a:ext cx="18324513" cy="89001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chemeClr val="tx1"/>
                </a:solidFill>
                <a:effectLst/>
              </a:rPr>
              <a:t>Course book</a:t>
            </a:r>
          </a:p>
          <a:p>
            <a:pPr marL="812901" lvl="1" indent="0">
              <a:buNone/>
            </a:pPr>
            <a:endParaRPr lang="en-US" sz="5400" dirty="0">
              <a:solidFill>
                <a:schemeClr val="tx1"/>
              </a:solidFill>
              <a:effectLst/>
            </a:endParaRPr>
          </a:p>
          <a:p>
            <a:pPr marL="812901" lvl="1" indent="0">
              <a:buNone/>
            </a:pPr>
            <a:r>
              <a:rPr lang="en-US" sz="5400" dirty="0">
                <a:solidFill>
                  <a:schemeClr val="tx1"/>
                </a:solidFill>
                <a:effectLst/>
              </a:rPr>
              <a:t>D.J. Griffiths, Introduction to Quantum </a:t>
            </a:r>
          </a:p>
          <a:p>
            <a:pPr marL="812901" lvl="1" indent="0">
              <a:buNone/>
            </a:pPr>
            <a:r>
              <a:rPr lang="en-US" sz="5400" dirty="0">
                <a:solidFill>
                  <a:schemeClr val="tx1"/>
                </a:solidFill>
                <a:effectLst/>
              </a:rPr>
              <a:t>Mechanics, Pearson</a:t>
            </a:r>
          </a:p>
          <a:p>
            <a:pPr marL="812901" lvl="1" indent="0">
              <a:buNone/>
            </a:pPr>
            <a:endParaRPr lang="en-US" sz="5400" dirty="0"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lang="en-US" sz="5400" b="1" dirty="0">
                <a:solidFill>
                  <a:schemeClr val="tx1"/>
                </a:solidFill>
              </a:rPr>
              <a:t>Supplementary material</a:t>
            </a:r>
          </a:p>
          <a:p>
            <a:pPr marL="812901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812901" lvl="1" indent="0">
              <a:buNone/>
            </a:pPr>
            <a:r>
              <a:rPr lang="en-US" dirty="0">
                <a:solidFill>
                  <a:schemeClr val="tx1"/>
                </a:solidFill>
              </a:rPr>
              <a:t>D.A.B. Miller, Quantum Mechanics for </a:t>
            </a:r>
          </a:p>
          <a:p>
            <a:pPr marL="812901" lvl="1" indent="0">
              <a:buNone/>
            </a:pPr>
            <a:r>
              <a:rPr lang="en-US" dirty="0">
                <a:solidFill>
                  <a:schemeClr val="tx1"/>
                </a:solidFill>
              </a:rPr>
              <a:t>Scientists and Engineers, Cambridge</a:t>
            </a:r>
          </a:p>
          <a:p>
            <a:pPr marL="812901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812901" lvl="1" indent="0">
              <a:buNone/>
            </a:pPr>
            <a:r>
              <a:rPr lang="en-US" b="1" dirty="0">
                <a:solidFill>
                  <a:srgbClr val="0070C0"/>
                </a:solidFill>
              </a:rPr>
              <a:t>C.C. Gerry and P.L. Knight, Introductory </a:t>
            </a:r>
          </a:p>
          <a:p>
            <a:pPr marL="812901" lvl="1" indent="0">
              <a:buNone/>
            </a:pPr>
            <a:r>
              <a:rPr lang="en-US" b="1" dirty="0">
                <a:solidFill>
                  <a:srgbClr val="0070C0"/>
                </a:solidFill>
              </a:rPr>
              <a:t>Quantum Optics, Cambridge, 2005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4475A-F1D2-892C-3563-09F3B5A9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CCA35-FFF1-4D77-B118-F852CADB2D68}" type="datetime1">
              <a:rPr lang="tr-TR" smtClean="0"/>
              <a:t>29.09.2026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5DFC6-ADD0-99C7-48EC-246F95C54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9B391-82AD-1B4C-9073-F5FC7B3F8BE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2" name="Picture 11" descr="A book cover of a book&#10;&#10;Description automatically generated">
            <a:extLst>
              <a:ext uri="{FF2B5EF4-FFF2-40B4-BE49-F238E27FC236}">
                <a16:creationId xmlns:a16="http://schemas.microsoft.com/office/drawing/2014/main" id="{3F82BE26-D5EB-CF6C-AAAC-D675A37A0F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729" r="11639"/>
          <a:stretch/>
        </p:blipFill>
        <p:spPr>
          <a:xfrm>
            <a:off x="13316401" y="2069613"/>
            <a:ext cx="7081326" cy="924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02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269C1-8171-6308-19BA-ED657DDEE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7520D-5D0D-8E87-C77E-654A81FEE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89361-0FD1-E750-5877-11227B39A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399" y="2047042"/>
            <a:ext cx="18324513" cy="890016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chemeClr val="tx1"/>
                </a:solidFill>
              </a:rPr>
              <a:t>Supplementary material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812901" lvl="1" indent="0">
              <a:buNone/>
            </a:pPr>
            <a:r>
              <a:rPr lang="en-US" sz="5400" dirty="0">
                <a:solidFill>
                  <a:schemeClr val="tx1"/>
                </a:solidFill>
              </a:rPr>
              <a:t>David Miller’s webpage on quantum mechanics</a:t>
            </a:r>
            <a:br>
              <a:rPr lang="en-US" sz="5400" dirty="0">
                <a:solidFill>
                  <a:schemeClr val="tx1"/>
                </a:solidFill>
              </a:rPr>
            </a:br>
            <a:r>
              <a:rPr lang="en-US" sz="5400" dirty="0">
                <a:solidFill>
                  <a:schemeClr val="tx1"/>
                </a:solidFill>
                <a:hlinkClick r:id="rId2"/>
              </a:rPr>
              <a:t>https://dabm.stanford.edu/teaching/quantum-mechanics/</a:t>
            </a:r>
            <a:endParaRPr lang="en-US" sz="5400" dirty="0">
              <a:solidFill>
                <a:schemeClr val="tx1"/>
              </a:solidFill>
            </a:endParaRPr>
          </a:p>
          <a:p>
            <a:pPr marL="812901" lvl="1" indent="0">
              <a:buNone/>
            </a:pPr>
            <a:r>
              <a:rPr lang="en-US" sz="5400" dirty="0">
                <a:solidFill>
                  <a:schemeClr val="tx1"/>
                </a:solidFill>
              </a:rPr>
              <a:t>	</a:t>
            </a:r>
          </a:p>
          <a:p>
            <a:pPr marL="812901" lvl="1" indent="0">
              <a:buNone/>
            </a:pPr>
            <a:r>
              <a:rPr lang="tr-TR" sz="5400" b="1" u="sng" dirty="0">
                <a:solidFill>
                  <a:srgbClr val="00008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QuVis</a:t>
            </a:r>
            <a:r>
              <a:rPr lang="tr-TR" sz="5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: Web site with quantum mechanics </a:t>
            </a:r>
            <a:r>
              <a:rPr lang="en-US" sz="5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simulations</a:t>
            </a:r>
          </a:p>
          <a:p>
            <a:pPr marL="812901" lvl="1" indent="0">
              <a:buNone/>
            </a:pPr>
            <a:endParaRPr lang="en-US" sz="5400" b="1" u="sng" dirty="0">
              <a:solidFill>
                <a:srgbClr val="000080"/>
              </a:solidFill>
              <a:ea typeface="Calibri" panose="020F0502020204030204" pitchFamily="34" charset="0"/>
              <a:cs typeface="Calibri" panose="020F0502020204030204" pitchFamily="34" charset="0"/>
              <a:hlinkClick r:id="rId4"/>
            </a:endParaRPr>
          </a:p>
          <a:p>
            <a:pPr marL="812901" lvl="1" indent="0">
              <a:buNone/>
            </a:pPr>
            <a:r>
              <a:rPr lang="tr-TR" sz="5400" b="1" u="sng" dirty="0">
                <a:solidFill>
                  <a:srgbClr val="00008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QuTip</a:t>
            </a:r>
            <a:r>
              <a:rPr lang="tr-TR" sz="5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5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Python </a:t>
            </a:r>
            <a:r>
              <a:rPr lang="tr-TR" sz="5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library quantum mechanical simulations</a:t>
            </a:r>
            <a:br>
              <a:rPr lang="en-US" sz="5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5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tr-TR" sz="5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Applet(s) by Paul Falstad for </a:t>
            </a:r>
            <a:r>
              <a:rPr lang="tr-TR" sz="5400" u="sng" dirty="0">
                <a:solidFill>
                  <a:srgbClr val="00008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1D quantum systems</a:t>
            </a:r>
            <a:r>
              <a:rPr lang="tr-TR" sz="5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5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other applets available </a:t>
            </a:r>
            <a:r>
              <a:rPr lang="tr-TR" sz="5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on </a:t>
            </a:r>
            <a:r>
              <a:rPr lang="tr-TR" sz="5400" u="sng" dirty="0">
                <a:solidFill>
                  <a:srgbClr val="00008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www.falstad.com/</a:t>
            </a:r>
            <a:r>
              <a:rPr lang="tr-TR" sz="5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5400" dirty="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12901" lvl="1" indent="0">
              <a:buNone/>
            </a:pPr>
            <a:endParaRPr lang="en-US" sz="5400" dirty="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4475A-F1D2-892C-3563-09F3B5A9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CCA35-FFF1-4D77-B118-F852CADB2D68}" type="datetime1">
              <a:rPr lang="tr-TR" smtClean="0"/>
              <a:t>29.09.2026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5DFC6-ADD0-99C7-48EC-246F95C54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9B391-82AD-1B4C-9073-F5FC7B3F8BE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231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AC26-C1E1-F2E2-21EB-FA0B56386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the course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9CA7DC-7D87-8BB7-A003-ACB63CC5D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AE26B-C714-4ECC-B622-AC95A98EB812}" type="datetime1">
              <a:rPr lang="tr-TR" smtClean="0"/>
              <a:t>29.09.2026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87728-531F-F378-6372-58C646A72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9B391-82AD-1B4C-9073-F5FC7B3F8BE6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240FBA-F38F-F55F-2ECB-7C038D02BB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377881"/>
              </p:ext>
            </p:extLst>
          </p:nvPr>
        </p:nvGraphicFramePr>
        <p:xfrm>
          <a:off x="2194561" y="1475770"/>
          <a:ext cx="17945319" cy="1012313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2167251">
                  <a:extLst>
                    <a:ext uri="{9D8B030D-6E8A-4147-A177-3AD203B41FA5}">
                      <a16:colId xmlns:a16="http://schemas.microsoft.com/office/drawing/2014/main" val="1319398681"/>
                    </a:ext>
                  </a:extLst>
                </a:gridCol>
                <a:gridCol w="13352030">
                  <a:extLst>
                    <a:ext uri="{9D8B030D-6E8A-4147-A177-3AD203B41FA5}">
                      <a16:colId xmlns:a16="http://schemas.microsoft.com/office/drawing/2014/main" val="2706253677"/>
                    </a:ext>
                  </a:extLst>
                </a:gridCol>
                <a:gridCol w="2426038">
                  <a:extLst>
                    <a:ext uri="{9D8B030D-6E8A-4147-A177-3AD203B41FA5}">
                      <a16:colId xmlns:a16="http://schemas.microsoft.com/office/drawing/2014/main" val="1979371010"/>
                    </a:ext>
                  </a:extLst>
                </a:gridCol>
              </a:tblGrid>
              <a:tr h="610121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/>
                        <a:t>week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/>
                        <a:t>Topic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/>
                        <a:t>Griffiths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01122308"/>
                  </a:ext>
                </a:extLst>
              </a:tr>
              <a:tr h="62097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Week 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Introduction &amp; Required mathematical methods. </a:t>
                      </a:r>
                      <a:br>
                        <a:rPr lang="tr-TR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tr-TR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Waves and Schrödinger's equation</a:t>
                      </a:r>
                      <a:endParaRPr lang="en-US" sz="320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Ch. 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9120250"/>
                  </a:ext>
                </a:extLst>
              </a:tr>
              <a:tr h="62097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Week 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tr-TR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Probability, Uncertainty and Time evolution, Infinite Square well</a:t>
                      </a:r>
                      <a:endParaRPr lang="en-US" sz="320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1625803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Ch. 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2180961"/>
                  </a:ext>
                </a:extLst>
              </a:tr>
              <a:tr h="62097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Week 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tr-TR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Harmonic oscillator, Creation &amp; Annihilation operators</a:t>
                      </a:r>
                      <a:endParaRPr lang="en-US" sz="320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Ch. 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2847402"/>
                  </a:ext>
                </a:extLst>
              </a:tr>
              <a:tr h="62097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Week 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tr-TR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Free particle, 1D Bound states &amp; Scattering/Transmission, Finite well</a:t>
                      </a:r>
                      <a:endParaRPr lang="en-US" sz="320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Ch. 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2864727"/>
                  </a:ext>
                </a:extLst>
              </a:tr>
              <a:tr h="62097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Week 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marR="0" lvl="0" indent="0" algn="l" defTabSz="1625803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Approximation methods in 1D</a:t>
                      </a:r>
                      <a:endParaRPr lang="en-US" sz="320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Ch. 3 &amp; 7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5690599"/>
                  </a:ext>
                </a:extLst>
              </a:tr>
              <a:tr h="62097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Week 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200" b="1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Quiz 1</a:t>
                      </a:r>
                      <a:r>
                        <a:rPr lang="tr-TR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+ Quantum mechanics formalism: Functions &amp; operators</a:t>
                      </a:r>
                      <a:endParaRPr lang="en-US" sz="320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Ch. 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0857979"/>
                  </a:ext>
                </a:extLst>
              </a:tr>
              <a:tr h="62097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Week 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tr-TR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Dirac formalism, Uncertainty</a:t>
                      </a:r>
                      <a:endParaRPr lang="en-US" sz="320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Ch. 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9825029"/>
                  </a:ext>
                </a:extLst>
              </a:tr>
              <a:tr h="62097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Week 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tr-TR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Angular momentum and Hydrogen atom</a:t>
                      </a:r>
                      <a:endParaRPr lang="en-US" sz="320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Ch. 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107896"/>
                  </a:ext>
                </a:extLst>
              </a:tr>
              <a:tr h="62097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Week 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tr-TR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Spin</a:t>
                      </a:r>
                      <a:endParaRPr lang="en-US" sz="320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Ch. 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3800605"/>
                  </a:ext>
                </a:extLst>
              </a:tr>
              <a:tr h="62097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Week 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2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Quiz 2</a:t>
                      </a:r>
                      <a:r>
                        <a:rPr lang="en-US" sz="32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+ Magnetic fields, The Pauli equation, Minimal Coupling, Zeeman Effect</a:t>
                      </a:r>
                      <a:endParaRPr lang="en-US" sz="320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Ch. 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31556653"/>
                  </a:ext>
                </a:extLst>
              </a:tr>
              <a:tr h="62097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Week 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marR="0" lvl="0" indent="0" algn="l" defTabSz="1625803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Identical particles</a:t>
                      </a:r>
                      <a:endParaRPr lang="en-US" sz="320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Ch. 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5191065"/>
                  </a:ext>
                </a:extLst>
              </a:tr>
              <a:tr h="62097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Week 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Periodic structures, Band structure, Bloch functions</a:t>
                      </a:r>
                      <a:endParaRPr lang="en-US" sz="320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Ch. 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54436184"/>
                  </a:ext>
                </a:extLst>
              </a:tr>
              <a:tr h="62097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Week 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tr-TR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Time-dependent perturbation</a:t>
                      </a:r>
                      <a:endParaRPr lang="en-US" sz="320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Ch. 7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574030"/>
                  </a:ext>
                </a:extLst>
              </a:tr>
              <a:tr h="62097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Week 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Absorption, spontaneous emission, and stimulated emission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1625803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Ch. 7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3347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2976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AC26-C1E1-F2E2-21EB-FA0B56386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syllabus and class workflow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FA7C09-1139-AFA4-442F-3CF263CA4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err="1"/>
              <a:t>Homeworks</a:t>
            </a:r>
            <a:endParaRPr lang="en-US" b="1" dirty="0"/>
          </a:p>
          <a:p>
            <a:r>
              <a:rPr lang="en-US" dirty="0"/>
              <a:t>Not graded, idea is to understand the topic better</a:t>
            </a:r>
          </a:p>
          <a:p>
            <a:r>
              <a:rPr lang="en-US" dirty="0"/>
              <a:t>You can submit solutions/ask questions, working together allowed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Quizzes (2)</a:t>
            </a:r>
          </a:p>
          <a:p>
            <a:r>
              <a:rPr lang="en-US" dirty="0"/>
              <a:t>2 x 20% = 40% of your grade, same style as the final but only 3 questions and you have 1 hour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Final Exam</a:t>
            </a:r>
            <a:endParaRPr lang="en-US" dirty="0"/>
          </a:p>
          <a:p>
            <a:r>
              <a:rPr lang="en-US" dirty="0"/>
              <a:t>60% of your grade, 7 theoretical open questions, Exercises are important, topics from the whole year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9DFE9E-E200-7F37-E220-5DA62F116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AB432-1FFB-4AB7-857E-E7A87ECD0DCF}" type="datetime1">
              <a:rPr lang="tr-TR" smtClean="0"/>
              <a:t>29.09.2026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66BC7-87CC-573D-95E7-CEAD6CBD4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9B391-82AD-1B4C-9073-F5FC7B3F8BE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151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955AF-8BA2-DB1C-52EB-7EE4ADF16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CA99E-0D33-B5D8-CBC9-FF61B7026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syllabus and class workflow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D17643-0CD6-9888-158D-16706D170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Quiz</a:t>
            </a:r>
            <a:r>
              <a:rPr lang="en-US" dirty="0"/>
              <a:t> dates (tentative)</a:t>
            </a:r>
          </a:p>
          <a:p>
            <a:pPr lvl="1"/>
            <a:r>
              <a:rPr lang="en-US" dirty="0"/>
              <a:t>Quiz 1: </a:t>
            </a:r>
            <a:r>
              <a:rPr lang="en-US"/>
              <a:t>Wednesday 05.11.2025</a:t>
            </a:r>
            <a:endParaRPr lang="en-US" dirty="0"/>
          </a:p>
          <a:p>
            <a:pPr lvl="1"/>
            <a:r>
              <a:rPr lang="en-US" dirty="0"/>
              <a:t>Quiz 2: Wednesday 03.12.2025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Final exam (all topics): date TBA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E6070F-16A0-B540-9305-DAB17E6E0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AB432-1FFB-4AB7-857E-E7A87ECD0DCF}" type="datetime1">
              <a:rPr lang="tr-TR" smtClean="0"/>
              <a:t>29.09.2026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C9B1A-2FFA-3267-8BB2-41271B90A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9B391-82AD-1B4C-9073-F5FC7B3F8BE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283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12378</TotalTime>
  <Words>665</Words>
  <Application>Microsoft Office PowerPoint</Application>
  <PresentationFormat>Custom</PresentationFormat>
  <Paragraphs>157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PHOT 301: Quantum Photonics LECTURE 00</vt:lpstr>
      <vt:lpstr>Course information</vt:lpstr>
      <vt:lpstr>Contents of the Course</vt:lpstr>
      <vt:lpstr>Course materials</vt:lpstr>
      <vt:lpstr>Course materials</vt:lpstr>
      <vt:lpstr>Course materials</vt:lpstr>
      <vt:lpstr>Course materials</vt:lpstr>
      <vt:lpstr>Overview of the course</vt:lpstr>
      <vt:lpstr>Course syllabus and class workflow</vt:lpstr>
      <vt:lpstr>Course syllabus and class workflow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Davy Hoskens</dc:creator>
  <cp:lastModifiedBy>Michael Barbier</cp:lastModifiedBy>
  <cp:revision>402</cp:revision>
  <dcterms:created xsi:type="dcterms:W3CDTF">2016-03-16T17:36:50Z</dcterms:created>
  <dcterms:modified xsi:type="dcterms:W3CDTF">2026-09-29T09:44:07Z</dcterms:modified>
</cp:coreProperties>
</file>